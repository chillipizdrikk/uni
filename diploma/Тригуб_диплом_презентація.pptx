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64008"/>
            <a:ext cx="2926080" cy="50794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1645920" cy="1645920"/>
          </a:xfrm>
          <a:prstGeom prst="ellipse">
            <a:avLst/>
          </a:prstGeom>
          <a:solidFill>
            <a:srgbClr val="E07B39">
              <a:alpha val="80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7772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🔥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6492240" y="274320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274320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2743200"/>
            <a:ext cx="393192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2743200"/>
            <a:ext cx="393192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743200"/>
            <a:ext cx="393192" cy="3931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15468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154680"/>
            <a:ext cx="393192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3154680"/>
            <a:ext cx="393192" cy="3931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3154680"/>
            <a:ext cx="393192" cy="3931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154680"/>
            <a:ext cx="393192" cy="3931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56616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356616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3566160"/>
            <a:ext cx="393192" cy="3931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6680" y="3566160"/>
            <a:ext cx="393192" cy="3931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3566160"/>
            <a:ext cx="393192" cy="3931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977640"/>
            <a:ext cx="393192" cy="3931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977640"/>
            <a:ext cx="393192" cy="3931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397764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3977640"/>
            <a:ext cx="393192" cy="3931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977640"/>
            <a:ext cx="393192" cy="3931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389120"/>
            <a:ext cx="393192" cy="3931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4389120"/>
            <a:ext cx="393192" cy="3931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4389120"/>
            <a:ext cx="393192" cy="3931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438912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389120"/>
            <a:ext cx="393192" cy="3931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лісових пожеж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57200" y="1737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основі клітинних автоматів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57200" y="2514600"/>
            <a:ext cx="50292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Виконала: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студентка групи ПМІ-46с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31546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Тригуб М.В.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Селіверстов Р.Г.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3931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Спеціальність 122 – Комп'ютерні науки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|  Львів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і мета роботи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8191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Лісові пожежі — одна з найнебезпечніших природних катастроф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4942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Погіршення клімату збільшує частоту та масштаб пожеж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1693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Потрібні доступні інструменти для моделювання та прогнозування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201168" cy="20116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5844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Клітинні автомати — ефективний і наочний підхід для імітаційного моделювання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115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600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симулятор лісових пожеж на основі клітинних автоматів, який забезпечує: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322576"/>
            <a:ext cx="54864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29514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Інтерактивну візуалізацію процесу горіння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43784"/>
            <a:ext cx="54864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8163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Врахування погодних умов, вітру, рослинності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364992"/>
            <a:ext cx="54864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3375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Серійні експерименти та збір метрик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886200"/>
            <a:ext cx="54864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85876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різних сценаріїв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Призначення: навчання, оцінка ризиків, демонстрація впливу факторів на розвиток пожежі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Математична модель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931920" cy="10058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= (L, S, N, F, Θ)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Клітинний автомат — розширена модель Бак-Чен-Танга (BCT)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051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Множина станів 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457200" cy="3200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8348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Порожня клітина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920240"/>
            <a:ext cx="4572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Листяне дерево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377440"/>
            <a:ext cx="45720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Хвойне дерево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45720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463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B₁₋₃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78040" y="1463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Стадії горіння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1920240"/>
            <a:ext cx="457200" cy="32004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920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78040" y="1920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Бар'єр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2377440"/>
            <a:ext cx="457200" cy="32004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2377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Вигоріла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2240280"/>
            <a:ext cx="850392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Ефективна ймовірність займання: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25786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P(Δi, Δj) = W(Δi, Δj) · D_eff · F_veg · F_stage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" y="3246120"/>
            <a:ext cx="20848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246120"/>
            <a:ext cx="2084832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375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20040" y="38130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D_eff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08736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Ефективна сухість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(вологість × температура × дощ)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96312" y="3246120"/>
            <a:ext cx="20848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96312" y="3246120"/>
            <a:ext cx="2084832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96312" y="33375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🌲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496312" y="38130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F_veg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87752" y="408736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Займистість рослинності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(хвойні / листяні)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72584" y="3246120"/>
            <a:ext cx="20848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72584" y="3246120"/>
            <a:ext cx="2084832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72584" y="33375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672584" y="38130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F_stage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64024" y="408736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Стадія горіння сусідньої клітини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(α₁=0.80, α₂=0.55, α₃=0.25)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48856" y="3246120"/>
            <a:ext cx="20848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8856" y="3246120"/>
            <a:ext cx="2084832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8856" y="33375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💨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6848856" y="3813048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W(Δi,Δj)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0296" y="4087368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Вітровий множник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Анізотропія 8 напрямків (Мура)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Технологічний стек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51560" y="11612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мова реалізації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Лаконічний синтаксис, екосистема наукових бібліотек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9748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86200" y="11612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обчислень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8288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Векторизовані операції, булеві маски, стохастика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1051560"/>
            <a:ext cx="269748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11612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 (Qt)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1490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Графічний інтерфейс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82880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Інтерактивне управління, відображення сітки в реальному часі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9748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51560" y="30358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Аналітичні графіки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Гістограми, теплові карти, часові ряди активності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69748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886200" y="30358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 результатів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7033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Збереження метрик у CSV та Parquet форматах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2926080"/>
            <a:ext cx="2697480" cy="169164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20840" y="30358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3364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703320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тести, ~7 секунд, 100% проходження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застосунку та інтерфейс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840480" cy="6583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(PySide6)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37360" y="93268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вікно, сітка, панелі, обробники подій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3840480" cy="6583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99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(NumPy)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70992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ForestFireCA: генерація, step(), метрики, просторова аналітика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68880"/>
            <a:ext cx="3840480" cy="658368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871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Runner, аналіз, звіти (Markdown/HTML), графіки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337560"/>
            <a:ext cx="3840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Можливості інтерфейсу: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18872" cy="1188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124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інструментів редагування (підпал, дерева, бар'єр, стерти)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18872" cy="1188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86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Автоматичний та покроковий режими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118872" cy="1188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61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Слайдери: вологість, температура, вітер, дощ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18872" cy="1188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35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Вікно аналітики + експорт JSON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841248"/>
            <a:ext cx="4434840" cy="4069080"/>
          </a:xfrm>
          <a:prstGeom prst="rect">
            <a:avLst/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841248"/>
            <a:ext cx="4434840" cy="256032"/>
          </a:xfrm>
          <a:prstGeom prst="rect">
            <a:avLst/>
          </a:prstGeom>
          <a:solidFill>
            <a:srgbClr val="2D2D3F"/>
          </a:solidFill>
          <a:ln w="12700">
            <a:solidFill>
              <a:srgbClr val="2D2D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8503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лісової пожежі  ●●●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34840" y="1143000"/>
            <a:ext cx="2743200" cy="2743200"/>
          </a:xfrm>
          <a:prstGeom prst="rect">
            <a:avLst/>
          </a:prstGeom>
          <a:solidFill>
            <a:srgbClr val="111122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53128" y="1161288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3480" y="1161288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3832" y="1161288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1161288"/>
            <a:ext cx="512064" cy="5120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536" y="1161288"/>
            <a:ext cx="512064" cy="5120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53128" y="1691640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1691640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1691640"/>
            <a:ext cx="5120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44184" y="1691640"/>
            <a:ext cx="5120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74536" y="1691640"/>
            <a:ext cx="512064" cy="5120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53128" y="2221992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83480" y="2221992"/>
            <a:ext cx="5120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3832" y="2221992"/>
            <a:ext cx="512064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44184" y="2221992"/>
            <a:ext cx="512064" cy="5120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74536" y="2221992"/>
            <a:ext cx="512064" cy="512064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53128" y="2752344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83480" y="2752344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13832" y="2752344"/>
            <a:ext cx="512064" cy="5120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44184" y="2752344"/>
            <a:ext cx="512064" cy="51206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74536" y="2752344"/>
            <a:ext cx="512064" cy="51206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53128" y="3282696"/>
            <a:ext cx="512064" cy="5120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3282696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13832" y="3282696"/>
            <a:ext cx="512064" cy="5120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44184" y="3282696"/>
            <a:ext cx="512064" cy="51206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74536" y="3282696"/>
            <a:ext cx="512064" cy="512064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34840" y="3931920"/>
            <a:ext cx="27432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80560" y="3977640"/>
            <a:ext cx="128016" cy="128016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26864" y="39593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992624" y="3977640"/>
            <a:ext cx="128016" cy="12801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38928" y="39593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504688" y="3977640"/>
            <a:ext cx="128016" cy="128016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39593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Хвой.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16752" y="3977640"/>
            <a:ext cx="128016" cy="128016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63056" y="39593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Вог.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528816" y="3977640"/>
            <a:ext cx="128016" cy="128016"/>
          </a:xfrm>
          <a:prstGeom prst="ellipse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75120" y="395935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Вигор.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223760" y="1143000"/>
            <a:ext cx="1554480" cy="3108960"/>
          </a:xfrm>
          <a:prstGeom prst="rect">
            <a:avLst/>
          </a:prstGeom>
          <a:solidFill>
            <a:srgbClr val="25253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2376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керування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51192" y="1691640"/>
            <a:ext cx="1463040" cy="24688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51192" y="17007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Загальні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251192" y="1984248"/>
            <a:ext cx="1463040" cy="246888"/>
          </a:xfrm>
          <a:prstGeom prst="rect">
            <a:avLst/>
          </a:prstGeom>
          <a:solidFill>
            <a:srgbClr val="2C5F2D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51192" y="19933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Середовище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251192" y="2276856"/>
            <a:ext cx="1463040" cy="24688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51192" y="2286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7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Додатково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251192" y="2633472"/>
            <a:ext cx="146304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51192" y="26426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251192" y="2980944"/>
            <a:ext cx="1463040" cy="274320"/>
          </a:xfrm>
          <a:prstGeom prst="rect">
            <a:avLst/>
          </a:prstGeom>
          <a:solidFill>
            <a:srgbClr val="2D2D3F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51192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251192" y="3328416"/>
            <a:ext cx="1463040" cy="274320"/>
          </a:xfrm>
          <a:prstGeom prst="rect">
            <a:avLst/>
          </a:prstGeom>
          <a:solidFill>
            <a:srgbClr val="2D2D3F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51192" y="3337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симуляційних експериментів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10058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6 200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прогонів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серії експериментів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97480" cy="10058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8961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цензурованих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8745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завершились природно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697480" cy="100584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89611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7220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87452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проходження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4028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частки вигорілої площі (BAF)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03735"/>
            <a:ext cx="292608" cy="1175657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" y="4122638"/>
            <a:ext cx="292608" cy="156754"/>
          </a:xfrm>
          <a:prstGeom prst="rect">
            <a:avLst/>
          </a:prstGeom>
          <a:solidFill>
            <a:srgbClr val="4A7C5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71016" y="4063855"/>
            <a:ext cx="292608" cy="215537"/>
          </a:xfrm>
          <a:prstGeom prst="rect">
            <a:avLst/>
          </a:prstGeom>
          <a:solidFill>
            <a:srgbClr val="E07B3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55064" y="3965883"/>
            <a:ext cx="292608" cy="313509"/>
          </a:xfrm>
          <a:prstGeom prst="rect">
            <a:avLst/>
          </a:prstGeom>
          <a:solidFill>
            <a:srgbClr val="E07B3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39112" y="3926695"/>
            <a:ext cx="292608" cy="352697"/>
          </a:xfrm>
          <a:prstGeom prst="rect">
            <a:avLst/>
          </a:prstGeom>
          <a:solidFill>
            <a:srgbClr val="E07B3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23160" y="3887506"/>
            <a:ext cx="292608" cy="391886"/>
          </a:xfrm>
          <a:prstGeom prst="rect">
            <a:avLst/>
          </a:prstGeom>
          <a:solidFill>
            <a:srgbClr val="E07B3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3907101"/>
            <a:ext cx="292608" cy="372291"/>
          </a:xfrm>
          <a:prstGeom prst="rect">
            <a:avLst/>
          </a:prstGeom>
          <a:solidFill>
            <a:srgbClr val="E07B3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91256" y="3867912"/>
            <a:ext cx="292608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75304" y="3848318"/>
            <a:ext cx="292608" cy="431074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59352" y="2907792"/>
            <a:ext cx="292608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97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07008" y="4297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0" y="4297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95344" y="429768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4507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Двомодальний розподіл: пожежа або не поширюється, або охоплює весь ліс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240280"/>
            <a:ext cx="4160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висновки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38928" y="2715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Вологість — найсильніший фактор (r = −0.87 у перехідній зоні)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💨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38928" y="3118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Сильний вітер звужує фронт і зменшує загальну вигорілу площу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🌡️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38928" y="35204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 впливає більше на тривалість, ніж на площу (r = 0.31)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38928" y="39227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Найдовші пожежі — в перехідній зоні параметрів (до 224 кроків)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5488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🌲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138928" y="4325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Хвойний ліс: вища інтенсивність горіння (+3.4% AUC vs baseline)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Взаємодія факторів: вологість × дощ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Серія глобальної чутливості: 2 500 прогонів, схема 5×5 (вологість × інтенсивність дощу)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BAF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" y="12984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46504" y="12984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368296" y="12984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90088" y="12984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rain_intensity 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0" y="167335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0" y="22951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0" y="291693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0" y="353872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0" y="41605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  <a:p>
            <a:pPr algn="r" indent="0" marL="0">
              <a:buNone/>
            </a:pPr>
            <a:r>
              <a:rPr lang="en-US" sz="7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volog.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2920" y="1508760"/>
            <a:ext cx="594360" cy="594360"/>
          </a:xfrm>
          <a:prstGeom prst="rect">
            <a:avLst/>
          </a:prstGeom>
          <a:solidFill>
            <a:srgbClr val="BC3B2C"/>
          </a:solidFill>
          <a:ln w="12700">
            <a:solidFill>
              <a:srgbClr val="BC3B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24712" y="1508760"/>
            <a:ext cx="594360" cy="594360"/>
          </a:xfrm>
          <a:prstGeom prst="rect">
            <a:avLst/>
          </a:prstGeom>
          <a:solidFill>
            <a:srgbClr val="B43E2F"/>
          </a:solidFill>
          <a:ln w="12700">
            <a:solidFill>
              <a:srgbClr val="B43E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46504" y="1508760"/>
            <a:ext cx="594360" cy="594360"/>
          </a:xfrm>
          <a:prstGeom prst="rect">
            <a:avLst/>
          </a:prstGeom>
          <a:solidFill>
            <a:srgbClr val="9B4A36"/>
          </a:solidFill>
          <a:ln w="12700">
            <a:solidFill>
              <a:srgbClr val="9B4A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6504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68296" y="1508760"/>
            <a:ext cx="594360" cy="594360"/>
          </a:xfrm>
          <a:prstGeom prst="rect">
            <a:avLst/>
          </a:prstGeom>
          <a:solidFill>
            <a:srgbClr val="6F5E44"/>
          </a:solidFill>
          <a:ln w="12700">
            <a:solidFill>
              <a:srgbClr val="6F5E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68296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90088" y="1508760"/>
            <a:ext cx="594360" cy="594360"/>
          </a:xfrm>
          <a:prstGeom prst="rect">
            <a:avLst/>
          </a:prstGeom>
          <a:solidFill>
            <a:srgbClr val="3E7453"/>
          </a:solidFill>
          <a:ln w="12700">
            <a:solidFill>
              <a:srgbClr val="3E74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0088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2130552"/>
            <a:ext cx="594360" cy="594360"/>
          </a:xfrm>
          <a:prstGeom prst="rect">
            <a:avLst/>
          </a:prstGeom>
          <a:solidFill>
            <a:srgbClr val="B93C2D"/>
          </a:solidFill>
          <a:ln w="12700">
            <a:solidFill>
              <a:srgbClr val="B93C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24712" y="2130552"/>
            <a:ext cx="594360" cy="594360"/>
          </a:xfrm>
          <a:prstGeom prst="rect">
            <a:avLst/>
          </a:prstGeom>
          <a:solidFill>
            <a:srgbClr val="AE4130"/>
          </a:solidFill>
          <a:ln w="12700">
            <a:solidFill>
              <a:srgbClr val="AE41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46504" y="2130552"/>
            <a:ext cx="594360" cy="594360"/>
          </a:xfrm>
          <a:prstGeom prst="rect">
            <a:avLst/>
          </a:prstGeom>
          <a:solidFill>
            <a:srgbClr val="8C503B"/>
          </a:solidFill>
          <a:ln w="12700">
            <a:solidFill>
              <a:srgbClr val="8C50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46504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68296" y="2130552"/>
            <a:ext cx="594360" cy="594360"/>
          </a:xfrm>
          <a:prstGeom prst="rect">
            <a:avLst/>
          </a:prstGeom>
          <a:solidFill>
            <a:srgbClr val="58684B"/>
          </a:solidFill>
          <a:ln w="12700">
            <a:solidFill>
              <a:srgbClr val="5868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68296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990088" y="2130552"/>
            <a:ext cx="594360" cy="594360"/>
          </a:xfrm>
          <a:prstGeom prst="rect">
            <a:avLst/>
          </a:prstGeom>
          <a:solidFill>
            <a:srgbClr val="387754"/>
          </a:solidFill>
          <a:ln w="12700">
            <a:solidFill>
              <a:srgbClr val="3877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0088" y="2130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2752344"/>
            <a:ext cx="594360" cy="594360"/>
          </a:xfrm>
          <a:prstGeom prst="rect">
            <a:avLst/>
          </a:prstGeom>
          <a:solidFill>
            <a:srgbClr val="B14030"/>
          </a:solidFill>
          <a:ln w="12700">
            <a:solidFill>
              <a:srgbClr val="B14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752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24712" y="2752344"/>
            <a:ext cx="594360" cy="594360"/>
          </a:xfrm>
          <a:prstGeom prst="rect">
            <a:avLst/>
          </a:prstGeom>
          <a:solidFill>
            <a:srgbClr val="A24634"/>
          </a:solidFill>
          <a:ln w="12700">
            <a:solidFill>
              <a:srgbClr val="A2463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4712" y="2752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46504" y="2752344"/>
            <a:ext cx="594360" cy="594360"/>
          </a:xfrm>
          <a:prstGeom prst="rect">
            <a:avLst/>
          </a:prstGeom>
          <a:solidFill>
            <a:srgbClr val="765B42"/>
          </a:solidFill>
          <a:ln w="12700">
            <a:solidFill>
              <a:srgbClr val="765B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46504" y="2752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68296" y="2752344"/>
            <a:ext cx="594360" cy="594360"/>
          </a:xfrm>
          <a:prstGeom prst="rect">
            <a:avLst/>
          </a:prstGeom>
          <a:solidFill>
            <a:srgbClr val="477050"/>
          </a:solidFill>
          <a:ln w="12700">
            <a:solidFill>
              <a:srgbClr val="477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68296" y="2752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90088" y="2752344"/>
            <a:ext cx="594360" cy="594360"/>
          </a:xfrm>
          <a:prstGeom prst="rect">
            <a:avLst/>
          </a:prstGeom>
          <a:solidFill>
            <a:srgbClr val="327956"/>
          </a:solidFill>
          <a:ln w="12700">
            <a:solidFill>
              <a:srgbClr val="32795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90088" y="27523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3374136"/>
            <a:ext cx="594360" cy="594360"/>
          </a:xfrm>
          <a:prstGeom prst="rect">
            <a:avLst/>
          </a:prstGeom>
          <a:solidFill>
            <a:srgbClr val="A24634"/>
          </a:solidFill>
          <a:ln w="12700">
            <a:solidFill>
              <a:srgbClr val="A2463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3741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24712" y="3374136"/>
            <a:ext cx="594360" cy="594360"/>
          </a:xfrm>
          <a:prstGeom prst="rect">
            <a:avLst/>
          </a:prstGeom>
          <a:solidFill>
            <a:srgbClr val="8C503B"/>
          </a:solidFill>
          <a:ln w="12700">
            <a:solidFill>
              <a:srgbClr val="8C50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" y="33741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746504" y="3374136"/>
            <a:ext cx="594360" cy="594360"/>
          </a:xfrm>
          <a:prstGeom prst="rect">
            <a:avLst/>
          </a:prstGeom>
          <a:solidFill>
            <a:srgbClr val="58684B"/>
          </a:solidFill>
          <a:ln w="12700">
            <a:solidFill>
              <a:srgbClr val="5868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46504" y="33741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368296" y="3374136"/>
            <a:ext cx="594360" cy="594360"/>
          </a:xfrm>
          <a:prstGeom prst="rect">
            <a:avLst/>
          </a:prstGeom>
          <a:solidFill>
            <a:srgbClr val="3B7554"/>
          </a:solidFill>
          <a:ln w="12700">
            <a:solidFill>
              <a:srgbClr val="3B755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68296" y="33741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990088" y="3374136"/>
            <a:ext cx="594360" cy="594360"/>
          </a:xfrm>
          <a:prstGeom prst="rect">
            <a:avLst/>
          </a:prstGeom>
          <a:solidFill>
            <a:srgbClr val="2F7B57"/>
          </a:solidFill>
          <a:ln w="12700">
            <a:solidFill>
              <a:srgbClr val="2F7B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90088" y="33741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" y="3995928"/>
            <a:ext cx="594360" cy="594360"/>
          </a:xfrm>
          <a:prstGeom prst="rect">
            <a:avLst/>
          </a:prstGeom>
          <a:solidFill>
            <a:srgbClr val="85543D"/>
          </a:solidFill>
          <a:ln w="12700">
            <a:solidFill>
              <a:srgbClr val="8554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3995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124712" y="3995928"/>
            <a:ext cx="594360" cy="594360"/>
          </a:xfrm>
          <a:prstGeom prst="rect">
            <a:avLst/>
          </a:prstGeom>
          <a:solidFill>
            <a:srgbClr val="606548"/>
          </a:solidFill>
          <a:ln w="12700">
            <a:solidFill>
              <a:srgbClr val="6065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24712" y="3995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746504" y="3995928"/>
            <a:ext cx="594360" cy="594360"/>
          </a:xfrm>
          <a:prstGeom prst="rect">
            <a:avLst/>
          </a:prstGeom>
          <a:solidFill>
            <a:srgbClr val="3E7453"/>
          </a:solidFill>
          <a:ln w="12700">
            <a:solidFill>
              <a:srgbClr val="3E745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46504" y="3995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368296" y="3995928"/>
            <a:ext cx="594360" cy="594360"/>
          </a:xfrm>
          <a:prstGeom prst="rect">
            <a:avLst/>
          </a:prstGeom>
          <a:solidFill>
            <a:srgbClr val="307A57"/>
          </a:solidFill>
          <a:ln w="12700">
            <a:solidFill>
              <a:srgbClr val="307A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68296" y="3995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990088" y="3995928"/>
            <a:ext cx="594360" cy="594360"/>
          </a:xfrm>
          <a:prstGeom prst="rect">
            <a:avLst/>
          </a:prstGeom>
          <a:solidFill>
            <a:srgbClr val="2D7B58"/>
          </a:solidFill>
          <a:ln w="12700">
            <a:solidFill>
              <a:srgbClr val="2D7B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90088" y="3995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920" y="4690872"/>
            <a:ext cx="310896" cy="182880"/>
          </a:xfrm>
          <a:prstGeom prst="rect">
            <a:avLst/>
          </a:prstGeom>
          <a:solidFill>
            <a:srgbClr val="2C7C58"/>
          </a:solidFill>
          <a:ln w="12700">
            <a:solidFill>
              <a:srgbClr val="2C7C5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3816" y="4690872"/>
            <a:ext cx="310896" cy="182880"/>
          </a:xfrm>
          <a:prstGeom prst="rect">
            <a:avLst/>
          </a:prstGeom>
          <a:solidFill>
            <a:srgbClr val="3C7553"/>
          </a:solidFill>
          <a:ln w="12700">
            <a:solidFill>
              <a:srgbClr val="3C755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24712" y="4690872"/>
            <a:ext cx="310896" cy="182880"/>
          </a:xfrm>
          <a:prstGeom prst="rect">
            <a:avLst/>
          </a:prstGeom>
          <a:solidFill>
            <a:srgbClr val="4D6D4E"/>
          </a:solidFill>
          <a:ln w="12700">
            <a:solidFill>
              <a:srgbClr val="4D6D4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35608" y="4690872"/>
            <a:ext cx="310896" cy="182880"/>
          </a:xfrm>
          <a:prstGeom prst="rect">
            <a:avLst/>
          </a:prstGeom>
          <a:solidFill>
            <a:srgbClr val="5D6649"/>
          </a:solidFill>
          <a:ln w="12700">
            <a:solidFill>
              <a:srgbClr val="5D664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46504" y="4690872"/>
            <a:ext cx="310896" cy="182880"/>
          </a:xfrm>
          <a:prstGeom prst="rect">
            <a:avLst/>
          </a:prstGeom>
          <a:solidFill>
            <a:srgbClr val="6E5E44"/>
          </a:solidFill>
          <a:ln w="12700">
            <a:solidFill>
              <a:srgbClr val="6E5E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57400" y="4690872"/>
            <a:ext cx="310896" cy="182880"/>
          </a:xfrm>
          <a:prstGeom prst="rect">
            <a:avLst/>
          </a:prstGeom>
          <a:solidFill>
            <a:srgbClr val="7E573F"/>
          </a:solidFill>
          <a:ln w="12700">
            <a:solidFill>
              <a:srgbClr val="7E573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368296" y="4690872"/>
            <a:ext cx="310896" cy="182880"/>
          </a:xfrm>
          <a:prstGeom prst="rect">
            <a:avLst/>
          </a:prstGeom>
          <a:solidFill>
            <a:srgbClr val="8F4F3A"/>
          </a:solidFill>
          <a:ln w="12700">
            <a:solidFill>
              <a:srgbClr val="8F4F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79192" y="4690872"/>
            <a:ext cx="310896" cy="182880"/>
          </a:xfrm>
          <a:prstGeom prst="rect">
            <a:avLst/>
          </a:prstGeom>
          <a:solidFill>
            <a:srgbClr val="9F4835"/>
          </a:solidFill>
          <a:ln w="12700">
            <a:solidFill>
              <a:srgbClr val="9F48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90088" y="4690872"/>
            <a:ext cx="310896" cy="182880"/>
          </a:xfrm>
          <a:prstGeom prst="rect">
            <a:avLst/>
          </a:prstGeom>
          <a:solidFill>
            <a:srgbClr val="B04030"/>
          </a:solidFill>
          <a:ln w="12700">
            <a:solidFill>
              <a:srgbClr val="B040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00984" y="4690872"/>
            <a:ext cx="310896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2920" y="4892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(низький BAF)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075688" y="4892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(високий BAF)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120640" y="1170432"/>
            <a:ext cx="3703320" cy="3721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257800" y="12618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показує аналіз: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525780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5669280" y="1664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Мінімальні вологість + дощ → BAF ≈ 0.97 (майже весь ліс вигоряє)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257800" y="22585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🟢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5669280" y="22311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вологість + дощ → BAF ≈ 0.01 (пожежа не поширюється)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5257800" y="28254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5669280" y="27980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Найнебезпечніша зона — проміжні значення: вогонь не гасне, але й не розгоряється повністю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5257800" y="33924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5669280" y="336499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Ефект дощу за низької вологості сильніший, ніж за вже вологого середовища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5257800" y="39593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5669280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Взаємодія факторів неадитивна: спільний вплив ≠ сума окремих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051560"/>
            <a:ext cx="76809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Розроблено розширену математичну модель КА на базі BCT з двома типами рослинності, 3 стадіями горіння, вологістю, температурою, вітром, дощем та блискавками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1801368"/>
            <a:ext cx="76809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80136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настільний застосунок (Python + NumPy + PySide6) з інтерактивним інтерфейсом, 5 інструментами редагування та вікном аналітики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551176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2551176"/>
            <a:ext cx="76809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55117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6 200 прогонів у 3 серіях; встановлено ієрархію факторів: вологість &gt; вітер &gt; температура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00984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3300984"/>
            <a:ext cx="76809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30098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Виявлено неадитивну взаємодію вологості та дощу; найдовші пожежі — в перехідній зоні параметрів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5840" y="4050792"/>
            <a:ext cx="7680960" cy="53035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05079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Підсистема серійних експериментів автоматично генерує звіти Markdown/HTML для відтворюваного аналізу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3600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github.com/chillipizdrikk/forest_fire_simulatorr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Симулятор лісових пожеж</dc:title>
  <dc:subject>PptxGenJS Presentation</dc:subject>
  <dc:creator>PptxGenJS</dc:creator>
  <cp:lastModifiedBy>PptxGenJS</cp:lastModifiedBy>
  <cp:revision>1</cp:revision>
  <dcterms:created xsi:type="dcterms:W3CDTF">2026-05-31T13:36:32Z</dcterms:created>
  <dcterms:modified xsi:type="dcterms:W3CDTF">2026-05-31T13:36:32Z</dcterms:modified>
</cp:coreProperties>
</file>